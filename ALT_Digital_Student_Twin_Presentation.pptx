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5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CSI1006 · MINI PROJECT · FINAL ACADEMIC EVALUATION · OCTOBER 2026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M.Tech Mini Project Review · School of Computer Science and Engineering (SCOPE), VIT Vellore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5960"/>
                </a:solidFill>
                <a:latin typeface="Georgia"/>
              </a:defRPr>
            </a:pPr>
            <a:r>
              <a:t>ALT Digital Student Twin</a:t>
            </a:r>
          </a:p>
          <a:p>
            <a:pPr>
              <a:spcBef>
                <a:spcPts val="800"/>
              </a:spcBef>
              <a:defRPr sz="1700">
                <a:solidFill>
                  <a:srgbClr val="1E293B"/>
                </a:solidFill>
                <a:latin typeface="Calibri"/>
              </a:defRPr>
            </a:pPr>
            <a:r>
              <a:t>Cognitive Digital Twin Architecture for Real-Time Student Performance Prediction, Stress Mitigation, and Adaptive Multi-Agent Academic Interventions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484632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0690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5960"/>
                </a:solidFill>
                <a:latin typeface="Arial"/>
              </a:defRPr>
            </a:pPr>
            <a:r>
              <a:t>TEAM MEMBERS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23MIC0047 · Gnaneshwar R</a:t>
            </a:r>
          </a:p>
          <a:p>
            <a:pPr>
              <a:defRPr sz="1400" b="1">
                <a:solidFill>
                  <a:srgbClr val="1E293B"/>
                </a:solidFill>
                <a:latin typeface="Calibri"/>
              </a:defRPr>
            </a:pPr>
            <a:r>
              <a:t>23MIC0060 · Yasash Sanjeet Kumar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484632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0690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5960"/>
                </a:solidFill>
                <a:latin typeface="Arial"/>
              </a:defRPr>
            </a:pPr>
            <a:r>
              <a:t>PROJECT SUPERVISOR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Prof. Aarthy S L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Professor, SCOPE, VIT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02 · AIM AND OBJECTIVES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Six measurable technical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02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548640" cy="320040"/>
          </a:xfrm>
          <a:prstGeom prst="round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Calibri"/>
              </a:defRPr>
            </a:pPr>
            <a:r>
              <a:t>Dataset Synthesis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600 heterogeneous students across 12 multivariate telemetry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548640" cy="320040"/>
          </a:xfrm>
          <a:prstGeom prst="round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0116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Calibri"/>
              </a:defRPr>
            </a:pPr>
            <a:r>
              <a:t>Random Forest Regression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100 trees, depth 12: R² = 0.892, MAE = 2.41 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548640" cy="320040"/>
          </a:xfrm>
          <a:prstGeom prst="round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01168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Calibri"/>
              </a:defRPr>
            </a:pPr>
            <a:r>
              <a:t>What-If Simulator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Counterfactual sliders that recalculate trajectory in under 15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886200"/>
            <a:ext cx="548640" cy="320040"/>
          </a:xfrm>
          <a:prstGeom prst="round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Calibri"/>
              </a:defRPr>
            </a:pPr>
            <a:r>
              <a:t>Gemini Thinking Copilot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2048-token reasoning budget plus a sub-50 ms local heuristic fallback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0332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3886200"/>
            <a:ext cx="548640" cy="320040"/>
          </a:xfrm>
          <a:prstGeom prst="round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3434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Calibri"/>
              </a:defRPr>
            </a:pPr>
            <a:r>
              <a:t>432 Hz Neuro-Acoustics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In-browser isochronic synthesizer on the native W3C Web Audio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703320"/>
            <a:ext cx="3429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3886200"/>
            <a:ext cx="548640" cy="320040"/>
          </a:xfrm>
          <a:prstGeom prst="round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3434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Calibri"/>
              </a:defRPr>
            </a:pPr>
            <a:r>
              <a:t>RBAC Full-Stack Deployment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Admin and Student roles on a FastAPI backend with a responsive SPA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03 · MOTIVATION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Why students need a twin, not a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03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Surveillance vs. Agency</a:t>
            </a:r>
          </a:p>
          <a:p>
            <a:pPr>
              <a:spcBef>
                <a:spcPts val="600"/>
              </a:spcBef>
              <a:defRPr sz="1250">
                <a:solidFill>
                  <a:srgbClr val="475569"/>
                </a:solidFill>
                <a:latin typeface="Calibri"/>
              </a:defRPr>
            </a:pPr>
            <a:r>
              <a:t>Dashboards watch students but rarely let them act on their own data. A twin hands control back to the learner with transparent What-If explorations.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137160" cy="2148840"/>
          </a:xfrm>
          <a:prstGeom prst="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Over 60% Sleep Deprived</a:t>
            </a:r>
          </a:p>
          <a:p>
            <a:pPr>
              <a:spcBef>
                <a:spcPts val="600"/>
              </a:spcBef>
              <a:defRPr sz="1250">
                <a:solidFill>
                  <a:srgbClr val="475569"/>
                </a:solidFill>
                <a:latin typeface="Calibri"/>
              </a:defRPr>
            </a:pPr>
            <a:r>
              <a:t>A mental-health and sleep crisis in higher education quietly drives stress and falling marks. Existing LMS tools are totally blind to physiological burnout.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703320"/>
            <a:ext cx="137160" cy="2148840"/>
          </a:xfrm>
          <a:prstGeom prst="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1 : 80 Mentor Ratio</a:t>
            </a:r>
          </a:p>
          <a:p>
            <a:pPr>
              <a:spcBef>
                <a:spcPts val="600"/>
              </a:spcBef>
              <a:defRPr sz="1250">
                <a:solidFill>
                  <a:srgbClr val="475569"/>
                </a:solidFill>
                <a:latin typeface="Calibri"/>
              </a:defRPr>
            </a:pPr>
            <a:r>
              <a:t>Human mentoring does not scale. One mentor cannot build a personal plan for every student, every week. Computational twins bridge this pastoral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033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703320"/>
            <a:ext cx="137160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Reasoning-Budgeted LLMs</a:t>
            </a:r>
          </a:p>
          <a:p>
            <a:pPr>
              <a:spcBef>
                <a:spcPts val="600"/>
              </a:spcBef>
              <a:defRPr sz="1250">
                <a:solidFill>
                  <a:srgbClr val="475569"/>
                </a:solidFill>
                <a:latin typeface="Calibri"/>
              </a:defRPr>
            </a:pPr>
            <a:r>
              <a:t>A thinking budget turns a bare numerical prediction into an empathetic, step-by-step academic plan with immediate stress down-regulation.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04 · LITERATURE SURVEY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Review matrix of eight seminal benchmark papers (2021–2025)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04 / 18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2468880"/>
                <a:gridCol w="3047695"/>
              </a:tblGrid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Study &amp; Author</a:t>
                      </a:r>
                    </a:p>
                  </a:txBody>
                  <a:tcPr>
                    <a:solidFill>
                      <a:srgbClr val="0F59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 / Model</a:t>
                      </a:r>
                    </a:p>
                  </a:txBody>
                  <a:tcPr>
                    <a:solidFill>
                      <a:srgbClr val="0F59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 &amp; Scale</a:t>
                      </a:r>
                    </a:p>
                  </a:txBody>
                  <a:tcPr>
                    <a:solidFill>
                      <a:srgbClr val="0F59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Identified Critical Limitation</a:t>
                      </a:r>
                    </a:p>
                  </a:txBody>
                  <a:tcPr>
                    <a:solidFill>
                      <a:srgbClr val="0F596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Apruzzese et al. (2023)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Ensemble ML in Cyber-Physical Twins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Industrial sensors (F1 &gt; 0.91)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cognitive or human behavioral telemetry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Kumar et al.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LSTM Neural Nets on LMS Clickstreams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LMS logins &amp; forums (R² = 0.82)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Black-box opacity; omitted sleep &amp; mental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Nisbet et al. (2024)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Decision Tree Ensembles in Higher 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Higher Ed cohorts (N = 1200)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Batch processed quarterly; lacks real-time simulation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Salih et al. (2021)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Comparative ML Survey (SVM, RF, KNN)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Tabular benchmark datasets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Theoretical survey without intervention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Zhang &amp; Chen (2022)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Conversational Agents in Advising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University advising 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Brittle NLP; incapable of predictive reasoning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Alam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Digital Twins in Higher 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Campus facility sensor 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Focused on physical rooms; omitted learner cognition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Tusche et al. (2023)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432 Hz Acoustic Neuro-Regulation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Clinical EEG trials (N = 84)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Isolated acoustic study; no integration with software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ALT Digital Twin (Ours)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 + Gemini Thinking AI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600 students, 12 features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Unified real-time prediction, What-If, and audio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05 · LITERATURE SURVEY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Three critical limitations in 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05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29000" cy="822960"/>
          </a:xfrm>
          <a:prstGeom prst="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Batch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Scores refreshed per exam or term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 Help arrives after the damage is already done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 No continuous feedback loop for student adjustment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 Misses short-term cognitive overload cycles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3429000" cy="822960"/>
          </a:xfrm>
          <a:prstGeom prst="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Black-Box Opacity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Accurate scores with zero explainability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 Students cannot see which behavioral levers to pull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 Faculty mistrust opaque predictions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 Raises ethical compliance concerns in accreditation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429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0" y="1371600"/>
            <a:ext cx="342900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Omission of Sleep &amp; 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3774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  <a:latin typeface="Calibri"/>
              </a:defRPr>
            </a:pPr>
            <a:r>
              <a:t>Models lean strictly on marks and LMS clicks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 Well-being and physiological drivers are left out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 Over 60% of engineering dropouts stem from burnout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 Predictions miss the root physiological cause of decline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06 · LITERATURE SURVEY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Three research gaps and the ALT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06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GAP 1: No Counterfactual Exploration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Students are told they are at risk, but given no way to test lifestyle fixes.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3600" y="1828800"/>
            <a:ext cx="457200" cy="45720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4937760" cy="1371600"/>
          </a:xfrm>
          <a:prstGeom prst="roundRect">
            <a:avLst/>
          </a:prstGeom>
          <a:solidFill>
            <a:srgbClr val="E0F2F6"/>
          </a:solidFill>
          <a:ln w="12700">
            <a:solidFill>
              <a:srgbClr val="0F5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5960"/>
                </a:solidFill>
                <a:latin typeface="Calibri"/>
              </a:defRPr>
            </a:pPr>
            <a:r>
              <a:t>ALT RESPONSE: What-If Studio (&lt; 15 ms)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Real-time slider gradient recalculation empowers direct student agency.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GAP 2: Prediction &amp; Counseling are Divided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Predictive dashboards flag risk, but chatbots only answer static FAQs.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3600" y="3383280"/>
            <a:ext cx="457200" cy="45720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2926080"/>
            <a:ext cx="4937760" cy="1371600"/>
          </a:xfrm>
          <a:prstGeom prst="roundRect">
            <a:avLst/>
          </a:prstGeom>
          <a:solidFill>
            <a:srgbClr val="E0F2F6"/>
          </a:solidFill>
          <a:ln w="12700">
            <a:solidFill>
              <a:srgbClr val="0F5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063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5960"/>
                </a:solidFill>
                <a:latin typeface="Calibri"/>
              </a:defRPr>
            </a:pPr>
            <a:r>
              <a:t>ALT RESPONSE: Gemini Thinking + Local Copilot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Synthesizes risk vectors into a 2048-token thinking budget with 42.6 ms local fallback.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GAP 3: No Integrated Acoustic Regulation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Risk alerts trigger panic; systems offer zero real-time calming modalities.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600" y="4937760"/>
            <a:ext cx="457200" cy="45720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4480560"/>
            <a:ext cx="4937760" cy="1371600"/>
          </a:xfrm>
          <a:prstGeom prst="roundRect">
            <a:avLst/>
          </a:prstGeom>
          <a:solidFill>
            <a:srgbClr val="E0F2F6"/>
          </a:solidFill>
          <a:ln w="12700">
            <a:solidFill>
              <a:srgbClr val="0F5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617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5960"/>
                </a:solidFill>
                <a:latin typeface="Calibri"/>
              </a:defRPr>
            </a:pPr>
            <a:r>
              <a:t>ALT RESPONSE: In-Browser 432 Hz Neuro-Engine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Native W3C Web Audio API synthesizer for instant autonomic stress down-regulation.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07 · PROBLEM FORMULATION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From a 12-dimensional telemetry vector to score and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07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FORMAL MATHEMATICAL MODEL</a:t>
            </a:r>
          </a:p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•  Telemetry Vector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x ∈ ℝ¹² : Attendance, Study Hours, Sleep, Stress, Past GPA, Midterm Marks, LMS Logins, Assignment Rate, Social Media...</a:t>
            </a:r>
          </a:p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•  Predictive Trajectory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ŷ = f(x), where f : ℝ¹² → [0, 100] is the ensemble regressor mapping inputs to final semester marks.</a:t>
            </a:r>
          </a:p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•  Risk Tier Classification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R = g(ŷ, Ψ) ∈ { Low, Moderate, High }</a:t>
            </a:r>
            <a:br/>
            <a:r>
              <a:t>Low: ŷ ≥ 70, Ψ ≤ 4 | Moderate: 50 ≤ ŷ &lt; 70 | High: ŷ &lt; 50 or Ψ ≥ 8</a:t>
            </a:r>
          </a:p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•  What-If Differential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Δŷ = f(x + δ) - f(x), where δ ∈ Feasible Slider Vector (e.g. +4h study, +1.5h sleep).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PROBLEM STATEMENT &amp; CONSTRAINTS</a:t>
            </a:r>
          </a:p>
          <a:p>
            <a:pPr>
              <a:spcAft>
                <a:spcPts val="1400"/>
              </a:spcAft>
              <a:defRPr sz="1350" i="1">
                <a:solidFill>
                  <a:srgbClr val="1E293B"/>
                </a:solidFill>
                <a:latin typeface="Georgia"/>
              </a:defRPr>
            </a:pPr>
            <a:r>
              <a:t>“Given a student’s live multidimensional telemetry vector x, learn f that predicts the final score ŷ accurately, assigns a risk tier R, and supports instant counterfactual queries Δŷ while delivering real-time psychological down-regulation.”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✔  Accuracy Constraint: R² ≥ 0.88 and MAE ≤ 2.50 marks on held-out test data.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✔  Latency Constraint: Counterfactual recalculation under 15 ms.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✔  Conversational Constraint: Turnaround under 50 ms to prevent advising abandonment.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✔  Explainability Constraint: Gini feature importances exposed for academic auditability.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08 · PROPOSED SYSTEM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Layered three-tier cognitive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08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Tier 1: Presentation Tier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Studio Mirage glassmorphic dark-mode Single Page Application (SPA), SVG gauges, What-If slider controls, Web Audio node controllers.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Tier 2: Application Orchestration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FastAPI ASGI asynchronous REST service, Role-Based Access Control (Admin vs. Student), session token claims, and intelligent LLM prompt routers.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Tier 3: Machine Intelligence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Scikit-Learn Random Forest ensemble weights, Google Gemini 2.0 Flash Thinking API adapter, and 432 Hz Web Audio synthesizer graph.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DFD Level 1 Pipeline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User logs in → RBAC routes role → Telemetry validated → RF computes score &amp; risk → Slider perturbation recomputes Δŷ in &lt;15ms → Audio returns calming tone.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71600"/>
            <a:ext cx="56994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4_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08760"/>
            <a:ext cx="5425135" cy="32550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09 · UML DETAILED DESIGN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What-If sequence execution and class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09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4_2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212080" cy="31272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371600"/>
            <a:ext cx="496793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Class: StudentTwin Entity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Encapsulates student_id, name, 12 telemetry attributes; exposes to_vector(), update_checkin(), and get_risk_category().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Class: TrajectoryPredictor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Wraps trained RandomForestRegressor, feature importances, and execute_simulation(delta) gradient computation.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Class: CognitiveCopilotEngine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Manages Gemini Thinking API client, system prompts, 2048 token budgets, and sub-50ms local deterministic fallback rules.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Class: AudioTherapySubsystem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Interfaces with native browser AudioContext, generating 432 Hz, 216 Hz, and 648 Hz sine waves with zero audio clipping.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Class: CohortManager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Maintains global in-memory registry of 600 students, calculating cohort KPIs, risk filtering, and CSV 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10 · EXPERIMENTAL RESULTS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Quantitative model evaluation across supervised regressors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10 / 18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41855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59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0F59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MAE (marks)</a:t>
                      </a:r>
                    </a:p>
                  </a:txBody>
                  <a:tcPr>
                    <a:solidFill>
                      <a:srgbClr val="0F59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0F59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0F596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Random Forest (Proposed)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0.892 ± 0.014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2.41 ± 0.18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3.18 ± 0.22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4.2 ms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XGBoost Regressor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0.887 ± 0.016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2.53 ± 0.21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3.34 ± 0.25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6.8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Single Decision Tree (CART)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0.764 ± 0.032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4.12 ± 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5.62 ± 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Ridge Regression (α = 1.0)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0.812 ± 0.021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3.45 ± 0.24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4.38 ± 0.29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Ordinary Least Squares (OLS)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0.809 ± 0.022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3.49 ± 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4.42 ± 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57200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4846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5960"/>
                </a:solidFill>
                <a:latin typeface="Arial"/>
              </a:defRPr>
            </a:pPr>
            <a:r>
              <a:t>COEFFICIENT OF DETERMINATION (R²)</a:t>
            </a:r>
          </a:p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R² = 1 - [ Σ(y_i - ŷ_i)² / Σ(y_i - ȳ)² ] = 0.892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Quantifies that 89.2% of academic variance is captured by our 12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57200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4846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MEAN ABSOLUTE ERROR (MAE)</a:t>
            </a:r>
          </a:p>
          <a:p>
            <a:pPr>
              <a:defRPr sz="1300" b="1">
                <a:solidFill>
                  <a:srgbClr val="1E293B"/>
                </a:solidFill>
                <a:latin typeface="Calibri"/>
              </a:defRPr>
            </a:pPr>
            <a:r>
              <a:t>MAE = (1/n) Σ |y_i - ŷ_i| = 2.41 marks</a:t>
            </a:r>
          </a:p>
          <a:p>
            <a:pPr>
              <a:defRPr sz="1050">
                <a:solidFill>
                  <a:srgbClr val="475569"/>
                </a:solidFill>
                <a:latin typeface="Calibri"/>
              </a:defRPr>
            </a:pPr>
            <a:r>
              <a:t>Average score prediction error is bounded to just ~2 marks out of 100.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11 · EXPERIMENTAL RESULTS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Feature importance: a Pareto view of student success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11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7_8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212080" cy="29317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371600"/>
            <a:ext cx="496793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44.7% INFLUENCE FROM TOP TWO LEVERS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Attendance Percentage (0.284)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 Dominant single predictor. Students dropping below 75% exhibit exponential risk inflection.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Weekly Study Hours (0.163)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 Second strongest driver. Demonstrates high linearity between 15 and 25 hours per week.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Previous Semester GPA (0.141)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 Baseline cognitive foundation; anchors the regressor against extreme volatile jumps.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Sleep Hours per Night (0.098)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 Crucial physiological moderator. Couples directly with stress index to trigger burnout.</a:t>
            </a:r>
          </a:p>
          <a:p>
            <a:pPr>
              <a:defRPr sz="1200" b="1">
                <a:solidFill>
                  <a:srgbClr val="1E293B"/>
                </a:solidFill>
                <a:latin typeface="Calibri"/>
              </a:defRPr>
            </a:pPr>
            <a:r>
              <a:t>• Midterm Exam Score (0.092)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   Primary mid-semester calibration check.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12 · LIVE SYSTEM ANALYSIS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Admin dashboard and cohort health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12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3891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STEP 1: Monolithic Authentication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Single entry point enforcing Role-Based Access Control (RBAC). Validates admin tokens or student IDs with zero latency.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STEP 2: Cohort Health KPIs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Aggregates 600 students: Average Score (71.8%), Sleep (6.4h), Stress (5.8/10), and Attendance Health (84.2%).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STEP 3: 600-Student Scatter Plot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Interactive Canvas visualization mapping study hours vs. marks, color-coded by risk tiers.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STEP 4: Global Risk Registry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Paginated, searchable table allowing faculty to instantly drill down into at-risk learners for proactive advisory.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371600"/>
            <a:ext cx="606521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7_2_cohor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08760"/>
            <a:ext cx="5790895" cy="32573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13 · LIVE SYSTEM ANALYSIS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Student digital twin and interactive What-If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13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3891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023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STEP 1: Individual Digital Twin Profile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Shows student S1000 ('Aarav Patel') with baseline predicted score 88.4%, low risk tier, and personal habits.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STEP 2: Slider Perturbation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Student drags study hours (+4h) and sleep hours (8h) sliders to hypothesize changes.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STEP 3: Sub-15ms Recalculation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Algorithm 1 calculates localized gradient instantly in memory without network reload.</a:t>
            </a:r>
          </a:p>
          <a:p>
            <a:pPr>
              <a:defRPr sz="1300" b="1">
                <a:solidFill>
                  <a:srgbClr val="0F5960"/>
                </a:solidFill>
                <a:latin typeface="Calibri"/>
              </a:defRPr>
            </a:pPr>
            <a:r>
              <a:t>STEP 4: Real-Time Trajectory Gain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50">
                <a:solidFill>
                  <a:srgbClr val="475569"/>
                </a:solidFill>
                <a:latin typeface="Calibri"/>
              </a:defRPr>
            </a:pPr>
            <a:r>
              <a:t>Circular SVG gauge updates immediately, reflecting a +11.8% performance gain.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371600"/>
            <a:ext cx="606521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7_4_what_if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508760"/>
            <a:ext cx="5790895" cy="32573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14 · EXPERIMENTAL RESULTS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Latency profiling, dual-engine copilot, and 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14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7_10_assistant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5029200" cy="28289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371600"/>
            <a:ext cx="515081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F5960"/>
                </a:solidFill>
                <a:latin typeface="Arial"/>
              </a:defRPr>
            </a:pPr>
            <a:r>
              <a:t>LATENCY BENCHMARKS (p50 / p99)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• What-If Recompute: 11.2 ms (p50) · 18.1 ms (p99)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• Local Heuristic Copilot: 42.6 ms (p50) · 54.0 ms (p99)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• Gemini Thinking Copilot: 1,180 ms (p50) · 2,450 ms (p99)</a:t>
            </a:r>
          </a:p>
          <a:p>
            <a:pPr>
              <a:spcAft>
                <a:spcPts val="2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• Web Audio Initialization: 6.8 ms (p50) · 12.4 ms (p99)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250" b="1">
                <a:solidFill>
                  <a:srgbClr val="D97706"/>
                </a:solidFill>
                <a:latin typeface="Arial"/>
              </a:defRPr>
            </a:pPr>
            <a:r>
              <a:t>CLOUD HOSTING COST (5,000 STUDENTS)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 Total Monthly Cost: $12.00 USD (≈ ₹12,000 INR / year)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 Per-Student Cost: ~ $0.0024 per student / month</a:t>
            </a:r>
          </a:p>
          <a:p>
            <a:pPr>
              <a:spcBef>
                <a:spcPts val="2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✔  80% queries handled by zero-cost local heuristic engine.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15 · CONCLUSION AND FUTURE DEVELOPMENT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Contributions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15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WHAT WE CONTRIBUTED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✔  End-to-End Twin Paradigm: Bridges prediction, explainability, counterfactual simulation, and neuro-acoustic regulation.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✔  High Predictive Accuracy: Random Forest achieves R² = 0.892 and MAE = 2.41 marks.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✔  Ultra-Low Latency: What-If simulation executes in &lt; 15 ms; local chat copilot responds in 42.6 ms.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  <a:latin typeface="Calibri"/>
              </a:defRPr>
            </a:pPr>
            <a:r>
              <a:t>✔  Socio-Economic Viability: Secure RBAC system deployable at just $12/month for 5,000 learners.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FUTURE DEVELOPMENT TRAJECTORY</a:t>
            </a:r>
          </a:p>
          <a:p>
            <a:pPr>
              <a:defRPr sz="1250" b="1">
                <a:solidFill>
                  <a:srgbClr val="1E293B"/>
                </a:solidFill>
                <a:latin typeface="Calibri"/>
              </a:defRPr>
            </a:pPr>
            <a:r>
              <a:t>➜  Federated Multi-Campus Learning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Enables training across multiple technical universities without centralizing private student records.</a:t>
            </a:r>
          </a:p>
          <a:p>
            <a:pPr>
              <a:defRPr sz="1250" b="1">
                <a:solidFill>
                  <a:srgbClr val="1E293B"/>
                </a:solidFill>
                <a:latin typeface="Calibri"/>
              </a:defRPr>
            </a:pPr>
            <a:r>
              <a:t>➜  Wearable IoT Smartband Telemetry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Ingesting objective Apple HealthKit / Fitbit PPG sleep stages and HRV metrics to eliminate self-report bias.</a:t>
            </a:r>
          </a:p>
          <a:p>
            <a:pPr>
              <a:defRPr sz="1250" b="1">
                <a:solidFill>
                  <a:srgbClr val="1E293B"/>
                </a:solidFill>
                <a:latin typeface="Calibri"/>
              </a:defRPr>
            </a:pPr>
            <a:r>
              <a:t>➜  Real-Time SHAP Force Plots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475569"/>
                </a:solidFill>
                <a:latin typeface="Calibri"/>
              </a:defRPr>
            </a:pPr>
            <a:r>
              <a:t>    Embedding game-theoretic Shapley Additive Explanations directly into the UI for per-student force plots.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16 · OUTCOME ACHIEVED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Concrete deliverables and tangible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16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Live Web Application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Production-ready SPA with Studio Mirage design, active FastAPI backend on port 8000, and full RBAC.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137160" cy="2148840"/>
          </a:xfrm>
          <a:prstGeom prst="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60-Page Academic Report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Comprehensive academic report (.pdf &amp; .docx) adhering strictly to VIT PG(Integrated) CSI1006 guidelines.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703320"/>
            <a:ext cx="137160" cy="2148840"/>
          </a:xfrm>
          <a:prstGeom prst="rect">
            <a:avLst/>
          </a:prstGeom>
          <a:solidFill>
            <a:srgbClr val="0F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Sub-50ms AI Copilot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Zero-latency empathetic conversational engine powered by Gemini Flash Thinking &amp; local heuristics.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03320"/>
            <a:ext cx="52578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703320"/>
            <a:ext cx="137160" cy="2148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9776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293B"/>
                </a:solidFill>
                <a:latin typeface="Calibri"/>
              </a:defRPr>
            </a:pPr>
            <a:r>
              <a:t>Journal Target Track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Prepared for submission to IEEE Transactions on Learning Technologies (Special Issue on AI &amp; Digital Twins).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17 · REFERENCES (1 OF 2)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Peer-reviewed literature (A to 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17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[1]  Breiman, L. (2001). Random forests. Machine Learning, 45(1), 5–32.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[2]  Chen, T., &amp; Guestrin, C. (2016). XGBoost: A scalable tree boosting system. In Proc. 22nd ACM SIGKDD (pp. 785–794).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[3]  Cortez, P., &amp; Silva, A. M. G. (2008). Using data mining to predict secondary school student performance. In Proc. EUROSIS (pp. 5–12).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[4]  Doshi-Velez, F., &amp; Kim, B. (2017). Towards a rigorous science of interpretable machine learning. arXiv:1702.08608.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[5]  Gemini Team, Google. (2023). Gemini: A family of highly capable multimodal models. arXiv:2312.11805.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[6]  Grieves, M., &amp; Vickers, J. (2017). Digital twin: Mitigating unpredictable emergent behavior in complex systems. Springer.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[7]  Hershner, S. D., &amp; Chervin, R. D. (2014). Causes and consequences of sleepiness among college students. Nat. Sci. Sleep, 6, 73–84.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[8]  Hoerl, A. E., &amp; Kennard, R. W. (1970). Ridge regression: Biased estimation for nonorthogonal problems. Technometrics, 12(1), 55–67.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[9]  Huang, T. L., &amp; Charyton, C. (2008). Comprehensive review of psychological effects of brainwave entrainment. Altern. Ther., 14(5), 38–50.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5960"/>
                </a:solidFill>
                <a:latin typeface="Arial"/>
              </a:defRPr>
            </a:pPr>
            <a:r>
              <a:t>18 · REFERENCES (2 OF 2)</a:t>
            </a:r>
          </a:p>
          <a:p>
            <a:pPr>
              <a:defRPr sz="1800" b="1">
                <a:solidFill>
                  <a:srgbClr val="1E293B"/>
                </a:solidFill>
                <a:latin typeface="Calibri"/>
              </a:defRPr>
            </a:pPr>
            <a:r>
              <a:t>Peer-reviewed literature (L to 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ALT Digital Student Twin · CSI1006 Mini Project · 18 /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[10]  Lundberg, S. M., &amp; Lee, S.-I. (2017). A unified approach to interpreting model predictions. In NeurIPS 30 (pp. 4765–4774).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[11]  McMahan, H. B., et al. (2017). Communication-efficient learning of deep networks from decentralized data. PMLR 54 (pp. 1273–1282).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[12]  Pedregosa, F., et al. (2011). Scikit-learn: Machine learning in Python. Journal of Machine Learning Research, 12, 2825–2830.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[13]  Ribeiro, M. T., et al. (2016). “Why should I trust you?”: Explaining the predictions of any classifier. In ACM KDD (pp. 1135–1144).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[14]  Romero, C., &amp; Ventura, S. (2020). Educational data mining and learning analytics: An updated survey. WIREs Data Min. Knowl., 10(3), e1355.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[15]  Siemens, G., &amp; Long, P. (2011). Penetrating the fog: Analytics in learning and education. EDUCAUSE Review, 46(5), 30–40.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[16]  Tusche, A., et al. (2023). Acoustic neuro-regulation and brainwave entrainment: 432 Hz auditory stimulation. NeuroImage, 268, 119854.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[17]  Wachter, S., et al. (2017). Counterfactual explanations without opening the black box. Harvard J. Law &amp; Tech., 31(2), 841–887.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[18]  Wei, J., et al. (2022). Chain-of-thought prompting elicits reasoning in large language models. In NeurIPS 35 (pp. 24824–24837).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